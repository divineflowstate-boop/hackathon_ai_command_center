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AM - LEDGER LLAMAS"/>
          <p:cNvSpPr txBox="1"/>
          <p:nvPr>
            <p:ph type="body" idx="21"/>
          </p:nvPr>
        </p:nvSpPr>
        <p:spPr>
          <a:xfrm>
            <a:off x="1219200" y="11707355"/>
            <a:ext cx="21945600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TEAM - LEDGER LLAMAS</a:t>
            </a:r>
          </a:p>
        </p:txBody>
      </p:sp>
      <p:sp>
        <p:nvSpPr>
          <p:cNvPr id="152" name="Unified Recon Tower"/>
          <p:cNvSpPr txBox="1"/>
          <p:nvPr>
            <p:ph type="ctrTitle"/>
          </p:nvPr>
        </p:nvSpPr>
        <p:spPr>
          <a:xfrm>
            <a:off x="1219200" y="2400300"/>
            <a:ext cx="21945600" cy="426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satOff val="12785"/>
                    <a:lumOff val="-23589"/>
                  </a:schemeClr>
                </a:solidFill>
              </a:defRPr>
            </a:lvl1pPr>
          </a:lstStyle>
          <a:p>
            <a:pPr/>
            <a:r>
              <a:t>Unified Recon Tower</a:t>
            </a:r>
          </a:p>
        </p:txBody>
      </p:sp>
      <p:sp>
        <p:nvSpPr>
          <p:cNvPr id="153" name="PREDICT. DETECT. RESOLVE"/>
          <p:cNvSpPr txBox="1"/>
          <p:nvPr>
            <p:ph type="subTitle" sz="quarter" idx="1"/>
          </p:nvPr>
        </p:nvSpPr>
        <p:spPr>
          <a:xfrm>
            <a:off x="1219200" y="6424579"/>
            <a:ext cx="21945600" cy="2250593"/>
          </a:xfrm>
          <a:prstGeom prst="rect">
            <a:avLst/>
          </a:prstGeom>
        </p:spPr>
        <p:txBody>
          <a:bodyPr/>
          <a:lstStyle/>
          <a:p>
            <a:pPr>
              <a:defRPr spc="-53" sz="5400"/>
            </a:pPr>
            <a:r>
              <a:t>PREDICT. DETECT. RESOLVE</a:t>
            </a:r>
            <a:br/>
          </a:p>
        </p:txBody>
      </p:sp>
      <p:sp>
        <p:nvSpPr>
          <p:cNvPr id="154" name="Conversational Ops Intelligence for Reconciliation Platforms"/>
          <p:cNvSpPr txBox="1"/>
          <p:nvPr/>
        </p:nvSpPr>
        <p:spPr>
          <a:xfrm>
            <a:off x="1645742" y="9815694"/>
            <a:ext cx="21945601" cy="225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Conversational Ops Intelligence for Reconciliation Platforms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he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</a:t>
            </a:r>
          </a:p>
        </p:txBody>
      </p:sp>
      <p:sp>
        <p:nvSpPr>
          <p:cNvPr id="157" name="Where is the recon?"/>
          <p:cNvSpPr txBox="1"/>
          <p:nvPr>
            <p:ph type="body" idx="21"/>
          </p:nvPr>
        </p:nvSpPr>
        <p:spPr>
          <a:xfrm>
            <a:off x="1219199" y="4896508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Where is the recon?</a:t>
            </a:r>
          </a:p>
        </p:txBody>
      </p:sp>
      <p:sp>
        <p:nvSpPr>
          <p:cNvPr id="158" name="Will it breach SLA?"/>
          <p:cNvSpPr txBox="1"/>
          <p:nvPr/>
        </p:nvSpPr>
        <p:spPr>
          <a:xfrm>
            <a:off x="1219199" y="5759775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Will it breach SLA?</a:t>
            </a:r>
          </a:p>
        </p:txBody>
      </p:sp>
      <p:sp>
        <p:nvSpPr>
          <p:cNvPr id="159" name="Investigation &gt; Resolution"/>
          <p:cNvSpPr txBox="1"/>
          <p:nvPr/>
        </p:nvSpPr>
        <p:spPr>
          <a:xfrm>
            <a:off x="1061837" y="8633936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Investigation &gt; Resolution</a:t>
            </a:r>
          </a:p>
        </p:txBody>
      </p:sp>
      <p:sp>
        <p:nvSpPr>
          <p:cNvPr id="160" name="Why is it stuck?"/>
          <p:cNvSpPr txBox="1"/>
          <p:nvPr/>
        </p:nvSpPr>
        <p:spPr>
          <a:xfrm>
            <a:off x="1219199" y="6623041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Why is it stuck?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he Opportun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Opportunity</a:t>
            </a:r>
          </a:p>
        </p:txBody>
      </p:sp>
      <p:sp>
        <p:nvSpPr>
          <p:cNvPr id="163" name="ASK"/>
          <p:cNvSpPr txBox="1"/>
          <p:nvPr>
            <p:ph type="body" idx="21"/>
          </p:nvPr>
        </p:nvSpPr>
        <p:spPr>
          <a:xfrm>
            <a:off x="1219199" y="4304088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ASK</a:t>
            </a:r>
          </a:p>
        </p:txBody>
      </p:sp>
      <p:sp>
        <p:nvSpPr>
          <p:cNvPr id="164" name="UNDERSTAND"/>
          <p:cNvSpPr txBox="1"/>
          <p:nvPr/>
        </p:nvSpPr>
        <p:spPr>
          <a:xfrm>
            <a:off x="1219199" y="5901955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UNDERSTAND</a:t>
            </a:r>
          </a:p>
        </p:txBody>
      </p:sp>
      <p:sp>
        <p:nvSpPr>
          <p:cNvPr id="165" name="Find Answers. Not Dashboards."/>
          <p:cNvSpPr txBox="1"/>
          <p:nvPr/>
        </p:nvSpPr>
        <p:spPr>
          <a:xfrm>
            <a:off x="1527257" y="9392233"/>
            <a:ext cx="21945603" cy="2643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lnSpc>
                <a:spcPct val="100000"/>
              </a:lnSpc>
              <a:defRPr spc="-44" sz="44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pPr>
            <a:r>
              <a:t>Find Answers.</a:t>
            </a:r>
            <a:br/>
            <a:r>
              <a:t>Not Dashboards.</a:t>
            </a:r>
          </a:p>
        </p:txBody>
      </p:sp>
      <p:sp>
        <p:nvSpPr>
          <p:cNvPr id="166" name="ACT"/>
          <p:cNvSpPr txBox="1"/>
          <p:nvPr/>
        </p:nvSpPr>
        <p:spPr>
          <a:xfrm>
            <a:off x="1219199" y="7499822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ACT</a:t>
            </a:r>
          </a:p>
        </p:txBody>
      </p:sp>
      <p:sp>
        <p:nvSpPr>
          <p:cNvPr id="167" name="Line"/>
          <p:cNvSpPr/>
          <p:nvPr/>
        </p:nvSpPr>
        <p:spPr>
          <a:xfrm>
            <a:off x="12192000" y="5143232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8" name="Line"/>
          <p:cNvSpPr/>
          <p:nvPr/>
        </p:nvSpPr>
        <p:spPr>
          <a:xfrm>
            <a:off x="12192000" y="6763130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he Produ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Product</a:t>
            </a:r>
          </a:p>
        </p:txBody>
      </p:sp>
      <p:sp>
        <p:nvSpPr>
          <p:cNvPr id="171" name="OPS VISIBILITY"/>
          <p:cNvSpPr txBox="1"/>
          <p:nvPr>
            <p:ph type="body" idx="21"/>
          </p:nvPr>
        </p:nvSpPr>
        <p:spPr>
          <a:xfrm>
            <a:off x="-4562819" y="5106392"/>
            <a:ext cx="21945603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OPS VISIBILITY</a:t>
            </a:r>
          </a:p>
        </p:txBody>
      </p:sp>
      <p:sp>
        <p:nvSpPr>
          <p:cNvPr id="172" name="Know where the recon is"/>
          <p:cNvSpPr txBox="1"/>
          <p:nvPr/>
        </p:nvSpPr>
        <p:spPr>
          <a:xfrm>
            <a:off x="-4562819" y="5932502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where the recon is</a:t>
            </a:r>
          </a:p>
        </p:txBody>
      </p:sp>
      <p:sp>
        <p:nvSpPr>
          <p:cNvPr id="173" name="SLA INTELLIGENCE"/>
          <p:cNvSpPr txBox="1"/>
          <p:nvPr/>
        </p:nvSpPr>
        <p:spPr>
          <a:xfrm>
            <a:off x="6725370" y="5114908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SLA INTELLIGENCE</a:t>
            </a:r>
          </a:p>
        </p:txBody>
      </p:sp>
      <p:sp>
        <p:nvSpPr>
          <p:cNvPr id="174" name="Know before it breaches"/>
          <p:cNvSpPr txBox="1"/>
          <p:nvPr/>
        </p:nvSpPr>
        <p:spPr>
          <a:xfrm>
            <a:off x="6725370" y="5941017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before it breaches</a:t>
            </a:r>
          </a:p>
        </p:txBody>
      </p:sp>
      <p:sp>
        <p:nvSpPr>
          <p:cNvPr id="175" name="ANOMALY DETECTION"/>
          <p:cNvSpPr txBox="1"/>
          <p:nvPr/>
        </p:nvSpPr>
        <p:spPr>
          <a:xfrm>
            <a:off x="-4562819" y="9179278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ANOMALY DETECTION</a:t>
            </a:r>
          </a:p>
        </p:txBody>
      </p:sp>
      <p:sp>
        <p:nvSpPr>
          <p:cNvPr id="176" name="Know what’s unusual"/>
          <p:cNvSpPr txBox="1"/>
          <p:nvPr/>
        </p:nvSpPr>
        <p:spPr>
          <a:xfrm>
            <a:off x="-4562819" y="10005388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what’s unusual</a:t>
            </a:r>
          </a:p>
        </p:txBody>
      </p:sp>
      <p:sp>
        <p:nvSpPr>
          <p:cNvPr id="177" name="GUIDED RESOLUTION"/>
          <p:cNvSpPr txBox="1"/>
          <p:nvPr/>
        </p:nvSpPr>
        <p:spPr>
          <a:xfrm>
            <a:off x="6725370" y="9093008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GUIDED RESOLUTION</a:t>
            </a:r>
          </a:p>
        </p:txBody>
      </p:sp>
      <p:sp>
        <p:nvSpPr>
          <p:cNvPr id="178" name="Know what to do next"/>
          <p:cNvSpPr txBox="1"/>
          <p:nvPr/>
        </p:nvSpPr>
        <p:spPr>
          <a:xfrm>
            <a:off x="6725370" y="9919117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what to do next</a:t>
            </a:r>
          </a:p>
        </p:txBody>
      </p:sp>
      <p:sp>
        <p:nvSpPr>
          <p:cNvPr id="179" name="Line"/>
          <p:cNvSpPr/>
          <p:nvPr/>
        </p:nvSpPr>
        <p:spPr>
          <a:xfrm flipV="1">
            <a:off x="12191999" y="6628622"/>
            <a:ext cx="1" cy="26093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1"/>
          <p:cNvSpPr txBox="1"/>
          <p:nvPr/>
        </p:nvSpPr>
        <p:spPr>
          <a:xfrm>
            <a:off x="-4720180" y="3477282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1" name="2"/>
          <p:cNvSpPr txBox="1"/>
          <p:nvPr/>
        </p:nvSpPr>
        <p:spPr>
          <a:xfrm>
            <a:off x="6725371" y="3353601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2" name="3"/>
          <p:cNvSpPr txBox="1"/>
          <p:nvPr/>
        </p:nvSpPr>
        <p:spPr>
          <a:xfrm>
            <a:off x="-4720180" y="7568026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3" name="4"/>
          <p:cNvSpPr txBox="1"/>
          <p:nvPr/>
        </p:nvSpPr>
        <p:spPr>
          <a:xfrm>
            <a:off x="6725371" y="7286039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he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Stack</a:t>
            </a:r>
          </a:p>
        </p:txBody>
      </p:sp>
      <p:sp>
        <p:nvSpPr>
          <p:cNvPr id="186" name="REACT UI"/>
          <p:cNvSpPr txBox="1"/>
          <p:nvPr>
            <p:ph type="body" idx="21"/>
          </p:nvPr>
        </p:nvSpPr>
        <p:spPr>
          <a:xfrm>
            <a:off x="1219199" y="4187634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REACT UI</a:t>
            </a:r>
          </a:p>
        </p:txBody>
      </p:sp>
      <p:sp>
        <p:nvSpPr>
          <p:cNvPr id="187" name="MONETA BOOT"/>
          <p:cNvSpPr txBox="1"/>
          <p:nvPr/>
        </p:nvSpPr>
        <p:spPr>
          <a:xfrm>
            <a:off x="1219199" y="5843728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MONETA BOOT</a:t>
            </a:r>
          </a:p>
        </p:txBody>
      </p:sp>
      <p:sp>
        <p:nvSpPr>
          <p:cNvPr id="188" name="SMART SDK"/>
          <p:cNvSpPr txBox="1"/>
          <p:nvPr/>
        </p:nvSpPr>
        <p:spPr>
          <a:xfrm>
            <a:off x="1219199" y="7499822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SMART SDK</a:t>
            </a:r>
          </a:p>
        </p:txBody>
      </p:sp>
      <p:sp>
        <p:nvSpPr>
          <p:cNvPr id="189" name="Line"/>
          <p:cNvSpPr/>
          <p:nvPr/>
        </p:nvSpPr>
        <p:spPr>
          <a:xfrm>
            <a:off x="12192000" y="5143232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0" name="Line"/>
          <p:cNvSpPr/>
          <p:nvPr/>
        </p:nvSpPr>
        <p:spPr>
          <a:xfrm>
            <a:off x="12192000" y="6763130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Line"/>
          <p:cNvSpPr/>
          <p:nvPr/>
        </p:nvSpPr>
        <p:spPr>
          <a:xfrm>
            <a:off x="12192000" y="8389584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2" name="DYNAMO DB"/>
          <p:cNvSpPr txBox="1"/>
          <p:nvPr/>
        </p:nvSpPr>
        <p:spPr>
          <a:xfrm>
            <a:off x="1219199" y="9224326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DYNAMO DB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e MV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MVP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BEYOND NLQ"/>
          <p:cNvSpPr txBox="1"/>
          <p:nvPr>
            <p:ph type="title"/>
          </p:nvPr>
        </p:nvSpPr>
        <p:spPr>
          <a:xfrm>
            <a:off x="1053322" y="3476134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BEYOND NLQ</a:t>
            </a:r>
          </a:p>
        </p:txBody>
      </p:sp>
      <p:sp>
        <p:nvSpPr>
          <p:cNvPr id="197" name="FROM QUESTION TO RESOLUTION"/>
          <p:cNvSpPr txBox="1"/>
          <p:nvPr/>
        </p:nvSpPr>
        <p:spPr>
          <a:xfrm>
            <a:off x="1219199" y="5309303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FROM QUESTION TO RESOLUTION</a:t>
            </a:r>
          </a:p>
        </p:txBody>
      </p:sp>
      <p:sp>
        <p:nvSpPr>
          <p:cNvPr id="198" name="Chat is the entry point. Resolution is the outcome."/>
          <p:cNvSpPr txBox="1"/>
          <p:nvPr/>
        </p:nvSpPr>
        <p:spPr>
          <a:xfrm>
            <a:off x="1053321" y="8610239"/>
            <a:ext cx="21945603" cy="264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lnSpc>
                <a:spcPct val="100000"/>
              </a:lnSpc>
              <a:defRPr spc="-36" sz="3600">
                <a:solidFill>
                  <a:schemeClr val="accent6">
                    <a:satOff val="12785"/>
                    <a:lumOff val="-23589"/>
                  </a:schemeClr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Chat is the entry point.</a:t>
            </a:r>
            <a:br/>
            <a:r>
              <a:t>Resolution is the outcome.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