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1pPr>
    <a:lvl2pPr marL="0" marR="0" indent="4572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2pPr>
    <a:lvl3pPr marL="0" marR="0" indent="9144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3pPr>
    <a:lvl4pPr marL="0" marR="0" indent="13716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4pPr>
    <a:lvl5pPr marL="0" marR="0" indent="18288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5pPr>
    <a:lvl6pPr marL="0" marR="0" indent="22860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6pPr>
    <a:lvl7pPr marL="0" marR="0" indent="27432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7pPr>
    <a:lvl8pPr marL="0" marR="0" indent="32004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8pPr>
    <a:lvl9pPr marL="0" marR="0" indent="36576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217956"/>
              <a:satOff val="14368"/>
              <a:lumOff val="17764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71091"/>
              <a:satOff val="15926"/>
              <a:lumOff val="22314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45B43B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45B43B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9036"/>
              <a:lumOff val="17111"/>
            </a:schemeClr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BD17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FBD17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8A2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32C5B9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240640"/>
                  <a:satOff val="2542"/>
                  <a:lumOff val="-1319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240640"/>
              <a:satOff val="2542"/>
              <a:lumOff val="-13198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19200" y="11986162"/>
            <a:ext cx="21945599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29" sz="30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19200" y="7567579"/>
            <a:ext cx="21945600" cy="225059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each and sea at sunset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hor and Date"/>
          <p:cNvSpPr txBox="1"/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29" sz="30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/>
          <p:nvPr>
            <p:ph type="title" hasCustomPrompt="1"/>
          </p:nvPr>
        </p:nvSpPr>
        <p:spPr>
          <a:xfrm>
            <a:off x="1215495" y="4585102"/>
            <a:ext cx="9757338" cy="2540001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3" name="Sea against sky at sunset"/>
          <p:cNvSpPr/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4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1" name="Sea against sky at sunset"/>
          <p:cNvSpPr/>
          <p:nvPr>
            <p:ph type="pic" idx="21"/>
          </p:nvPr>
        </p:nvSpPr>
        <p:spPr>
          <a:xfrm>
            <a:off x="12192644" y="718588"/>
            <a:ext cx="10972801" cy="1232962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2" name="Slide Subtitle"/>
          <p:cNvSpPr txBox="1"/>
          <p:nvPr>
            <p:ph type="body" sz="quarter" idx="22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19200" y="3242270"/>
            <a:ext cx="21945600" cy="6604001"/>
          </a:xfrm>
          <a:prstGeom prst="rect">
            <a:avLst/>
          </a:prstGeom>
        </p:spPr>
        <p:txBody>
          <a:bodyPr anchor="ctr"/>
          <a:lstStyle>
            <a:lvl1pPr>
              <a:defRPr spc="0" sz="12800"/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4572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9144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13716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18288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0" name="Agenda Subtitle"/>
          <p:cNvSpPr txBox="1"/>
          <p:nvPr>
            <p:ph type="body" sz="quarter" idx="21" hasCustomPrompt="1"/>
          </p:nvPr>
        </p:nvSpPr>
        <p:spPr>
          <a:xfrm>
            <a:off x="1219200" y="2387115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act information"/>
          <p:cNvSpPr txBox="1"/>
          <p:nvPr>
            <p:ph type="body" sz="quarter" idx="21" hasCustomPrompt="1"/>
          </p:nvPr>
        </p:nvSpPr>
        <p:spPr>
          <a:xfrm>
            <a:off x="1219200" y="8462239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07" name="Body Level One…"/>
          <p:cNvSpPr txBox="1"/>
          <p:nvPr>
            <p:ph type="body" sz="half" idx="1" hasCustomPrompt="1"/>
          </p:nvPr>
        </p:nvSpPr>
        <p:spPr>
          <a:xfrm>
            <a:off x="1219200" y="4214484"/>
            <a:ext cx="21945600" cy="4269708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1219200" y="11100053"/>
            <a:ext cx="21945602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ea against sky at sunset 2"/>
          <p:cNvSpPr/>
          <p:nvPr>
            <p:ph type="pic" sz="quarter" idx="21"/>
          </p:nvPr>
        </p:nvSpPr>
        <p:spPr>
          <a:xfrm>
            <a:off x="15744825" y="5581752"/>
            <a:ext cx="7365408" cy="8280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Sea against sky at sunset 1"/>
          <p:cNvSpPr/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each and sea at sunset"/>
          <p:cNvSpPr/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each and sea at sunset"/>
          <p:cNvSpPr/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97689" y="12700000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lnSpc>
                <a:spcPct val="100000"/>
              </a:lnSpc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1pPr>
      <a:lvl2pPr marL="0" marR="0" indent="457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2pPr>
      <a:lvl3pPr marL="0" marR="0" indent="914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3pPr>
      <a:lvl4pPr marL="0" marR="0" indent="1371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4pPr>
      <a:lvl5pPr marL="0" marR="0" indent="18288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5pPr>
      <a:lvl6pPr marL="0" marR="0" indent="22860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6pPr>
      <a:lvl7pPr marL="0" marR="0" indent="2743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7pPr>
      <a:lvl8pPr marL="0" marR="0" indent="3200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8pPr>
      <a:lvl9pPr marL="0" marR="0" indent="3657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9pPr>
    </p:titleStyle>
    <p:bodyStyle>
      <a:lvl1pPr marL="5461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AM - THE ACB"/>
          <p:cNvSpPr txBox="1"/>
          <p:nvPr>
            <p:ph type="body" idx="21"/>
          </p:nvPr>
        </p:nvSpPr>
        <p:spPr>
          <a:xfrm>
            <a:off x="1219200" y="11707355"/>
            <a:ext cx="21945600" cy="60579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TEAM - THE ACB</a:t>
            </a:r>
          </a:p>
        </p:txBody>
      </p:sp>
      <p:sp>
        <p:nvSpPr>
          <p:cNvPr id="152" name="Agent Control Bureau"/>
          <p:cNvSpPr txBox="1"/>
          <p:nvPr>
            <p:ph type="ctrTitle"/>
          </p:nvPr>
        </p:nvSpPr>
        <p:spPr>
          <a:xfrm>
            <a:off x="1219200" y="2400300"/>
            <a:ext cx="21945600" cy="426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>
                    <a:satOff val="12785"/>
                    <a:lumOff val="-23589"/>
                  </a:schemeClr>
                </a:solidFill>
              </a:defRPr>
            </a:lvl1pPr>
          </a:lstStyle>
          <a:p>
            <a:pPr/>
            <a:r>
              <a:t>Agent Control Bureau</a:t>
            </a:r>
          </a:p>
        </p:txBody>
      </p:sp>
      <p:sp>
        <p:nvSpPr>
          <p:cNvPr id="153" name="KNOW. GOVERN. MAXIMIZE."/>
          <p:cNvSpPr txBox="1"/>
          <p:nvPr>
            <p:ph type="subTitle" sz="quarter" idx="1"/>
          </p:nvPr>
        </p:nvSpPr>
        <p:spPr>
          <a:xfrm>
            <a:off x="1219200" y="6424579"/>
            <a:ext cx="21945600" cy="2250593"/>
          </a:xfrm>
          <a:prstGeom prst="rect">
            <a:avLst/>
          </a:prstGeom>
        </p:spPr>
        <p:txBody>
          <a:bodyPr/>
          <a:lstStyle>
            <a:lvl1pPr>
              <a:defRPr spc="-53" sz="5400"/>
            </a:lvl1pPr>
          </a:lstStyle>
          <a:p>
            <a:pPr/>
            <a:r>
              <a:t>KNOW. GOVERN. MAXIMIZE.</a:t>
            </a:r>
          </a:p>
        </p:txBody>
      </p:sp>
      <p:sp>
        <p:nvSpPr>
          <p:cNvPr id="154" name="From Token Maxxing to Value Maxxing"/>
          <p:cNvSpPr txBox="1"/>
          <p:nvPr/>
        </p:nvSpPr>
        <p:spPr>
          <a:xfrm>
            <a:off x="1645742" y="9815693"/>
            <a:ext cx="21945601" cy="225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39" sz="4000">
                <a:solidFill>
                  <a:schemeClr val="accent6">
                    <a:satOff val="12785"/>
                    <a:lumOff val="-23589"/>
                  </a:schemeClr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From Token Maxxing to Value Maxxing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he Problem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Problem</a:t>
            </a:r>
          </a:p>
        </p:txBody>
      </p:sp>
      <p:sp>
        <p:nvSpPr>
          <p:cNvPr id="157" name="✗ How many agents?…"/>
          <p:cNvSpPr txBox="1"/>
          <p:nvPr>
            <p:ph type="body" idx="21"/>
          </p:nvPr>
        </p:nvSpPr>
        <p:spPr>
          <a:xfrm>
            <a:off x="1408773" y="4826436"/>
            <a:ext cx="21945603" cy="660991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defTabSz="808990">
              <a:defRPr spc="-43" sz="4312"/>
            </a:pPr>
          </a:p>
          <a:p>
            <a:pPr defTabSz="808990">
              <a:defRPr spc="-43" sz="4312"/>
            </a:pPr>
          </a:p>
          <a:p>
            <a:pPr defTabSz="808990">
              <a:defRPr spc="-43" sz="4312"/>
            </a:pPr>
            <a:r>
              <a:t>✗ How many agents?</a:t>
            </a:r>
          </a:p>
          <a:p>
            <a:pPr defTabSz="808990">
              <a:defRPr spc="-43" sz="4312"/>
            </a:pPr>
            <a:r>
              <a:t>✗ Who owns them?</a:t>
            </a:r>
          </a:p>
          <a:p>
            <a:pPr defTabSz="808990">
              <a:defRPr spc="-43" sz="4312"/>
            </a:pPr>
            <a:r>
              <a:t>✗ What is it costing?</a:t>
            </a:r>
          </a:p>
          <a:p>
            <a:pPr defTabSz="808990">
              <a:defRPr spc="-43" sz="4312"/>
            </a:pPr>
            <a:r>
              <a:t>✗ Which model running?</a:t>
            </a:r>
          </a:p>
          <a:p>
            <a:pPr defTabSz="808990">
              <a:defRPr spc="-43" sz="4312"/>
            </a:pPr>
            <a:r>
              <a:t>✗ Which tools are they using?</a:t>
            </a:r>
            <a:br/>
            <a:r>
              <a:t>✗ Duplicate effort across teams?</a:t>
            </a:r>
          </a:p>
        </p:txBody>
      </p:sp>
      <p:sp>
        <p:nvSpPr>
          <p:cNvPr id="158" name="Firm Level…"/>
          <p:cNvSpPr txBox="1"/>
          <p:nvPr/>
        </p:nvSpPr>
        <p:spPr>
          <a:xfrm>
            <a:off x="9406743" y="3267094"/>
            <a:ext cx="5570514" cy="1569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lnSpc>
                <a:spcPct val="100000"/>
              </a:lnSpc>
              <a:defRPr spc="-44" sz="4400">
                <a:solidFill>
                  <a:schemeClr val="accent5">
                    <a:hueOff val="-65973"/>
                    <a:satOff val="18050"/>
                    <a:lumOff val="-15912"/>
                  </a:schemeClr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pPr>
            <a:r>
              <a:t>Firm Level</a:t>
            </a:r>
          </a:p>
          <a:p>
            <a:pPr defTabSz="825500">
              <a:lnSpc>
                <a:spcPct val="100000"/>
              </a:lnSpc>
              <a:defRPr spc="-44" sz="4400">
                <a:latin typeface="Graphik Semibold"/>
                <a:ea typeface="Graphik Semibold"/>
                <a:cs typeface="Graphik Semibold"/>
                <a:sym typeface="Graphik Semibold"/>
              </a:defRPr>
            </a:pPr>
            <a:r>
              <a:t>✓ Governance exists</a:t>
            </a:r>
          </a:p>
        </p:txBody>
      </p:sp>
      <p:sp>
        <p:nvSpPr>
          <p:cNvPr id="159" name="LOB Level"/>
          <p:cNvSpPr txBox="1"/>
          <p:nvPr/>
        </p:nvSpPr>
        <p:spPr>
          <a:xfrm>
            <a:off x="11016552" y="5597414"/>
            <a:ext cx="2730044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defRPr spc="-44" sz="4400">
                <a:solidFill>
                  <a:schemeClr val="accent5">
                    <a:hueOff val="-65973"/>
                    <a:satOff val="18050"/>
                    <a:lumOff val="-15912"/>
                  </a:schemeClr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LOB Level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he Opportunit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Opportunity</a:t>
            </a:r>
          </a:p>
        </p:txBody>
      </p:sp>
      <p:sp>
        <p:nvSpPr>
          <p:cNvPr id="162" name="AGENTS"/>
          <p:cNvSpPr txBox="1"/>
          <p:nvPr/>
        </p:nvSpPr>
        <p:spPr>
          <a:xfrm>
            <a:off x="1473199" y="5296021"/>
            <a:ext cx="21945602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44" sz="44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AGENTS</a:t>
            </a:r>
          </a:p>
        </p:txBody>
      </p:sp>
      <p:sp>
        <p:nvSpPr>
          <p:cNvPr id="163" name="Line"/>
          <p:cNvSpPr/>
          <p:nvPr/>
        </p:nvSpPr>
        <p:spPr>
          <a:xfrm>
            <a:off x="12446000" y="6246058"/>
            <a:ext cx="1" cy="718313"/>
          </a:xfrm>
          <a:prstGeom prst="line">
            <a:avLst/>
          </a:prstGeom>
          <a:ln w="38100">
            <a:solidFill>
              <a:schemeClr val="accent6">
                <a:satOff val="12785"/>
                <a:lumOff val="-23589"/>
              </a:schemeClr>
            </a:solidFill>
            <a:custDash>
              <a:ds d="200000" sp="200000"/>
            </a:custDash>
            <a:miter lim="400000"/>
            <a:headEnd type="oval"/>
            <a:tailEnd type="oval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64" name="From TokenMaxxing -&gt; To ValueMaxxing"/>
          <p:cNvSpPr txBox="1"/>
          <p:nvPr/>
        </p:nvSpPr>
        <p:spPr>
          <a:xfrm>
            <a:off x="1219199" y="3532269"/>
            <a:ext cx="21945602" cy="1112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44" sz="4400">
                <a:solidFill>
                  <a:schemeClr val="accent5">
                    <a:hueOff val="-208605"/>
                    <a:satOff val="22839"/>
                    <a:lumOff val="-26624"/>
                  </a:schemeClr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From TokenMaxxing -&gt; To ValueMaxxing</a:t>
            </a:r>
          </a:p>
        </p:txBody>
      </p:sp>
      <p:sp>
        <p:nvSpPr>
          <p:cNvPr id="165" name="VISIBILTY"/>
          <p:cNvSpPr txBox="1"/>
          <p:nvPr/>
        </p:nvSpPr>
        <p:spPr>
          <a:xfrm>
            <a:off x="1473199" y="7081796"/>
            <a:ext cx="21945602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44" sz="44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VISIBILTY</a:t>
            </a:r>
          </a:p>
        </p:txBody>
      </p:sp>
      <p:sp>
        <p:nvSpPr>
          <p:cNvPr id="166" name="Line"/>
          <p:cNvSpPr/>
          <p:nvPr/>
        </p:nvSpPr>
        <p:spPr>
          <a:xfrm>
            <a:off x="12445999" y="8089039"/>
            <a:ext cx="1" cy="718313"/>
          </a:xfrm>
          <a:prstGeom prst="line">
            <a:avLst/>
          </a:prstGeom>
          <a:ln w="38100">
            <a:solidFill>
              <a:schemeClr val="accent6">
                <a:satOff val="12785"/>
                <a:lumOff val="-23589"/>
              </a:schemeClr>
            </a:solidFill>
            <a:custDash>
              <a:ds d="200000" sp="200000"/>
            </a:custDash>
            <a:miter lim="400000"/>
            <a:headEnd type="oval"/>
            <a:tailEnd type="oval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67" name="GOVERNANCE"/>
          <p:cNvSpPr txBox="1"/>
          <p:nvPr/>
        </p:nvSpPr>
        <p:spPr>
          <a:xfrm>
            <a:off x="1473199" y="8864501"/>
            <a:ext cx="21945602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44" sz="44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GOVERNANCE</a:t>
            </a:r>
          </a:p>
        </p:txBody>
      </p:sp>
      <p:sp>
        <p:nvSpPr>
          <p:cNvPr id="168" name="Line"/>
          <p:cNvSpPr/>
          <p:nvPr/>
        </p:nvSpPr>
        <p:spPr>
          <a:xfrm>
            <a:off x="12446000" y="9766143"/>
            <a:ext cx="1" cy="718313"/>
          </a:xfrm>
          <a:prstGeom prst="line">
            <a:avLst/>
          </a:prstGeom>
          <a:ln w="38100">
            <a:solidFill>
              <a:schemeClr val="accent6">
                <a:satOff val="12785"/>
                <a:lumOff val="-23589"/>
              </a:schemeClr>
            </a:solidFill>
            <a:custDash>
              <a:ds d="200000" sp="200000"/>
            </a:custDash>
            <a:miter lim="400000"/>
            <a:headEnd type="oval"/>
            <a:tailEnd type="oval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69" name="OPTIMIZATION"/>
          <p:cNvSpPr txBox="1"/>
          <p:nvPr/>
        </p:nvSpPr>
        <p:spPr>
          <a:xfrm>
            <a:off x="1473199" y="10647207"/>
            <a:ext cx="21945602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44" sz="44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OPTIMIZATION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he Produc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Product</a:t>
            </a:r>
          </a:p>
        </p:txBody>
      </p:sp>
      <p:sp>
        <p:nvSpPr>
          <p:cNvPr id="172" name="AGENT VISIBILITY"/>
          <p:cNvSpPr txBox="1"/>
          <p:nvPr>
            <p:ph type="body" idx="21"/>
          </p:nvPr>
        </p:nvSpPr>
        <p:spPr>
          <a:xfrm>
            <a:off x="-4562819" y="5106392"/>
            <a:ext cx="21945603" cy="83261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AGENT VISIBILITY</a:t>
            </a:r>
          </a:p>
        </p:txBody>
      </p:sp>
      <p:sp>
        <p:nvSpPr>
          <p:cNvPr id="173" name="Know what agent is up to"/>
          <p:cNvSpPr txBox="1"/>
          <p:nvPr/>
        </p:nvSpPr>
        <p:spPr>
          <a:xfrm>
            <a:off x="-4562819" y="5932502"/>
            <a:ext cx="21945603" cy="1011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39" sz="4000">
                <a:solidFill>
                  <a:schemeClr val="accent6">
                    <a:satOff val="12785"/>
                    <a:lumOff val="-23589"/>
                  </a:schemeClr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Know what agent is up to</a:t>
            </a:r>
          </a:p>
        </p:txBody>
      </p:sp>
      <p:sp>
        <p:nvSpPr>
          <p:cNvPr id="174" name="ADMIN IN THE LOOP"/>
          <p:cNvSpPr txBox="1"/>
          <p:nvPr/>
        </p:nvSpPr>
        <p:spPr>
          <a:xfrm>
            <a:off x="6725370" y="5114908"/>
            <a:ext cx="21945603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44" sz="44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ADMIN IN THE LOOP</a:t>
            </a:r>
          </a:p>
        </p:txBody>
      </p:sp>
      <p:sp>
        <p:nvSpPr>
          <p:cNvPr id="175" name="Know the double agents"/>
          <p:cNvSpPr txBox="1"/>
          <p:nvPr/>
        </p:nvSpPr>
        <p:spPr>
          <a:xfrm>
            <a:off x="6725370" y="5941017"/>
            <a:ext cx="21945603" cy="1011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39" sz="4000">
                <a:solidFill>
                  <a:schemeClr val="accent6">
                    <a:satOff val="12785"/>
                    <a:lumOff val="-23589"/>
                  </a:schemeClr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Know the double agents</a:t>
            </a:r>
          </a:p>
        </p:txBody>
      </p:sp>
      <p:sp>
        <p:nvSpPr>
          <p:cNvPr id="176" name="TOKEN TRACKING"/>
          <p:cNvSpPr txBox="1"/>
          <p:nvPr/>
        </p:nvSpPr>
        <p:spPr>
          <a:xfrm>
            <a:off x="-4562819" y="9179279"/>
            <a:ext cx="21945603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44" sz="44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TOKEN TRACKING</a:t>
            </a:r>
          </a:p>
        </p:txBody>
      </p:sp>
      <p:sp>
        <p:nvSpPr>
          <p:cNvPr id="177" name="Know the value derived"/>
          <p:cNvSpPr txBox="1"/>
          <p:nvPr/>
        </p:nvSpPr>
        <p:spPr>
          <a:xfrm>
            <a:off x="-4562819" y="10005388"/>
            <a:ext cx="21945603" cy="1011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39" sz="4000">
                <a:solidFill>
                  <a:schemeClr val="accent6">
                    <a:satOff val="12785"/>
                    <a:lumOff val="-23589"/>
                  </a:schemeClr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Know the value derived</a:t>
            </a:r>
          </a:p>
        </p:txBody>
      </p:sp>
      <p:sp>
        <p:nvSpPr>
          <p:cNvPr id="178" name="Know what is already built"/>
          <p:cNvSpPr txBox="1"/>
          <p:nvPr/>
        </p:nvSpPr>
        <p:spPr>
          <a:xfrm>
            <a:off x="6725370" y="9919117"/>
            <a:ext cx="21945603" cy="1011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39" sz="4000">
                <a:solidFill>
                  <a:schemeClr val="accent6">
                    <a:satOff val="12785"/>
                    <a:lumOff val="-23589"/>
                  </a:schemeClr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Know what is already built</a:t>
            </a:r>
          </a:p>
        </p:txBody>
      </p:sp>
      <p:sp>
        <p:nvSpPr>
          <p:cNvPr id="179" name="Line"/>
          <p:cNvSpPr/>
          <p:nvPr/>
        </p:nvSpPr>
        <p:spPr>
          <a:xfrm flipV="1">
            <a:off x="12192000" y="6628622"/>
            <a:ext cx="1" cy="26093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0" name="1"/>
          <p:cNvSpPr txBox="1"/>
          <p:nvPr/>
        </p:nvSpPr>
        <p:spPr>
          <a:xfrm>
            <a:off x="-4720179" y="3477282"/>
            <a:ext cx="21945601" cy="172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lnSpc>
                <a:spcPct val="80000"/>
              </a:lnSpc>
              <a:defRPr spc="-84" sz="8400">
                <a:latin typeface="+mn-lt"/>
                <a:ea typeface="+mn-ea"/>
                <a:cs typeface="+mn-cs"/>
                <a:sym typeface="Canela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81" name="2"/>
          <p:cNvSpPr txBox="1"/>
          <p:nvPr/>
        </p:nvSpPr>
        <p:spPr>
          <a:xfrm>
            <a:off x="6725371" y="3353601"/>
            <a:ext cx="21945601" cy="172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lnSpc>
                <a:spcPct val="80000"/>
              </a:lnSpc>
              <a:defRPr spc="-84" sz="8400">
                <a:latin typeface="+mn-lt"/>
                <a:ea typeface="+mn-ea"/>
                <a:cs typeface="+mn-cs"/>
                <a:sym typeface="Canela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82" name="3"/>
          <p:cNvSpPr txBox="1"/>
          <p:nvPr/>
        </p:nvSpPr>
        <p:spPr>
          <a:xfrm>
            <a:off x="-4720179" y="7568026"/>
            <a:ext cx="21945601" cy="172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lnSpc>
                <a:spcPct val="80000"/>
              </a:lnSpc>
              <a:defRPr spc="-84" sz="8400">
                <a:latin typeface="+mn-lt"/>
                <a:ea typeface="+mn-ea"/>
                <a:cs typeface="+mn-cs"/>
                <a:sym typeface="Canela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83" name="4"/>
          <p:cNvSpPr txBox="1"/>
          <p:nvPr/>
        </p:nvSpPr>
        <p:spPr>
          <a:xfrm>
            <a:off x="6725371" y="7286039"/>
            <a:ext cx="21945601" cy="172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lnSpc>
                <a:spcPct val="80000"/>
              </a:lnSpc>
              <a:defRPr spc="-84" sz="8400">
                <a:latin typeface="+mn-lt"/>
                <a:ea typeface="+mn-ea"/>
                <a:cs typeface="+mn-cs"/>
                <a:sym typeface="Canela 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84" name="DON’T REPEAT YOURSELF"/>
          <p:cNvSpPr txBox="1"/>
          <p:nvPr/>
        </p:nvSpPr>
        <p:spPr>
          <a:xfrm>
            <a:off x="6725370" y="9049872"/>
            <a:ext cx="21945603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44" sz="44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DON’T REPEAT YOURSELF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he Stac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Stack</a:t>
            </a:r>
          </a:p>
        </p:txBody>
      </p:sp>
      <p:sp>
        <p:nvSpPr>
          <p:cNvPr id="187" name="REACT UI"/>
          <p:cNvSpPr txBox="1"/>
          <p:nvPr>
            <p:ph type="body" idx="21"/>
          </p:nvPr>
        </p:nvSpPr>
        <p:spPr>
          <a:xfrm>
            <a:off x="-3733801" y="5076634"/>
            <a:ext cx="21945602" cy="83261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REACT UI</a:t>
            </a:r>
          </a:p>
        </p:txBody>
      </p:sp>
      <p:sp>
        <p:nvSpPr>
          <p:cNvPr id="188" name="MONETA BOOT"/>
          <p:cNvSpPr txBox="1"/>
          <p:nvPr/>
        </p:nvSpPr>
        <p:spPr>
          <a:xfrm>
            <a:off x="-3733801" y="6732728"/>
            <a:ext cx="21945602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44" sz="44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MONETA BOOT</a:t>
            </a:r>
          </a:p>
        </p:txBody>
      </p:sp>
      <p:sp>
        <p:nvSpPr>
          <p:cNvPr id="189" name="SMART SDK"/>
          <p:cNvSpPr txBox="1"/>
          <p:nvPr/>
        </p:nvSpPr>
        <p:spPr>
          <a:xfrm>
            <a:off x="-3733801" y="8388822"/>
            <a:ext cx="21945602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44" sz="44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SMART SDK</a:t>
            </a:r>
          </a:p>
        </p:txBody>
      </p:sp>
      <p:sp>
        <p:nvSpPr>
          <p:cNvPr id="190" name="Line"/>
          <p:cNvSpPr/>
          <p:nvPr/>
        </p:nvSpPr>
        <p:spPr>
          <a:xfrm>
            <a:off x="7239000" y="6032232"/>
            <a:ext cx="1" cy="718313"/>
          </a:xfrm>
          <a:prstGeom prst="line">
            <a:avLst/>
          </a:prstGeom>
          <a:ln w="38100">
            <a:solidFill>
              <a:schemeClr val="accent6">
                <a:satOff val="12785"/>
                <a:lumOff val="-23589"/>
              </a:schemeClr>
            </a:solidFill>
            <a:custDash>
              <a:ds d="200000" sp="200000"/>
            </a:custDash>
            <a:miter lim="400000"/>
            <a:headEnd type="oval"/>
            <a:tailEnd type="oval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1" name="Line"/>
          <p:cNvSpPr/>
          <p:nvPr/>
        </p:nvSpPr>
        <p:spPr>
          <a:xfrm>
            <a:off x="7239000" y="7652130"/>
            <a:ext cx="1" cy="718313"/>
          </a:xfrm>
          <a:prstGeom prst="line">
            <a:avLst/>
          </a:prstGeom>
          <a:ln w="38100">
            <a:solidFill>
              <a:schemeClr val="accent6">
                <a:satOff val="12785"/>
                <a:lumOff val="-23589"/>
              </a:schemeClr>
            </a:solidFill>
            <a:custDash>
              <a:ds d="200000" sp="200000"/>
            </a:custDash>
            <a:miter lim="400000"/>
            <a:headEnd type="oval"/>
            <a:tailEnd type="oval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2" name="Line"/>
          <p:cNvSpPr/>
          <p:nvPr/>
        </p:nvSpPr>
        <p:spPr>
          <a:xfrm>
            <a:off x="7239000" y="9278585"/>
            <a:ext cx="1" cy="718313"/>
          </a:xfrm>
          <a:prstGeom prst="line">
            <a:avLst/>
          </a:prstGeom>
          <a:ln w="38100">
            <a:solidFill>
              <a:schemeClr val="accent6">
                <a:satOff val="12785"/>
                <a:lumOff val="-23589"/>
              </a:schemeClr>
            </a:solidFill>
            <a:custDash>
              <a:ds d="200000" sp="200000"/>
            </a:custDash>
            <a:miter lim="400000"/>
            <a:headEnd type="oval"/>
            <a:tailEnd type="oval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3" name="DUCK DB"/>
          <p:cNvSpPr txBox="1"/>
          <p:nvPr/>
        </p:nvSpPr>
        <p:spPr>
          <a:xfrm>
            <a:off x="-3733801" y="10113326"/>
            <a:ext cx="21945602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44" sz="44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DUCK DB</a:t>
            </a:r>
          </a:p>
        </p:txBody>
      </p:sp>
      <p:sp>
        <p:nvSpPr>
          <p:cNvPr id="194" name="Ingest agent (SmartSDK gRpc logs)"/>
          <p:cNvSpPr txBox="1"/>
          <p:nvPr/>
        </p:nvSpPr>
        <p:spPr>
          <a:xfrm>
            <a:off x="7251143" y="5616476"/>
            <a:ext cx="21945603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44" sz="44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Ingest agent (SmartSDK gRpc logs)</a:t>
            </a:r>
          </a:p>
        </p:txBody>
      </p:sp>
      <p:sp>
        <p:nvSpPr>
          <p:cNvPr id="195" name="Auto approve agent"/>
          <p:cNvSpPr txBox="1"/>
          <p:nvPr/>
        </p:nvSpPr>
        <p:spPr>
          <a:xfrm>
            <a:off x="7251143" y="6927952"/>
            <a:ext cx="21945603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44" sz="44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Auto approve agent</a:t>
            </a:r>
          </a:p>
        </p:txBody>
      </p:sp>
      <p:sp>
        <p:nvSpPr>
          <p:cNvPr id="196" name="Dashboard"/>
          <p:cNvSpPr txBox="1"/>
          <p:nvPr/>
        </p:nvSpPr>
        <p:spPr>
          <a:xfrm>
            <a:off x="7251143" y="8134822"/>
            <a:ext cx="21945603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44" sz="44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Dashboard </a:t>
            </a:r>
          </a:p>
        </p:txBody>
      </p:sp>
      <p:sp>
        <p:nvSpPr>
          <p:cNvPr id="197" name="NLQ"/>
          <p:cNvSpPr txBox="1"/>
          <p:nvPr/>
        </p:nvSpPr>
        <p:spPr>
          <a:xfrm>
            <a:off x="7251143" y="9287271"/>
            <a:ext cx="21945603" cy="83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44" sz="4400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NLQ</a:t>
            </a:r>
          </a:p>
        </p:txBody>
      </p:sp>
      <p:sp>
        <p:nvSpPr>
          <p:cNvPr id="198" name="Line"/>
          <p:cNvSpPr/>
          <p:nvPr/>
        </p:nvSpPr>
        <p:spPr>
          <a:xfrm flipV="1">
            <a:off x="12192000" y="6039561"/>
            <a:ext cx="1" cy="260939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he MV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MVP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Moving From Token Maxxing to Value Maxxing"/>
          <p:cNvSpPr txBox="1"/>
          <p:nvPr>
            <p:ph type="title"/>
          </p:nvPr>
        </p:nvSpPr>
        <p:spPr>
          <a:xfrm>
            <a:off x="5509152" y="4258128"/>
            <a:ext cx="14030039" cy="4253501"/>
          </a:xfrm>
          <a:prstGeom prst="rect">
            <a:avLst/>
          </a:prstGeom>
        </p:spPr>
        <p:txBody>
          <a:bodyPr/>
          <a:lstStyle/>
          <a:p>
            <a:pPr/>
            <a:r>
              <a:t>Moving From Token Maxxing to Value Maxxing</a:t>
            </a:r>
          </a:p>
        </p:txBody>
      </p:sp>
      <p:sp>
        <p:nvSpPr>
          <p:cNvPr id="203" name="Know the cost. Prove the value."/>
          <p:cNvSpPr txBox="1"/>
          <p:nvPr/>
        </p:nvSpPr>
        <p:spPr>
          <a:xfrm>
            <a:off x="1219199" y="8657633"/>
            <a:ext cx="21945602" cy="2643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825500">
              <a:lnSpc>
                <a:spcPct val="100000"/>
              </a:lnSpc>
              <a:defRPr spc="-36" sz="3600">
                <a:solidFill>
                  <a:schemeClr val="accent6">
                    <a:satOff val="12785"/>
                    <a:lumOff val="-23589"/>
                  </a:schemeClr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Know the cost. Prove the value.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